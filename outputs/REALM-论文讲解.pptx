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3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86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相关工作对照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终点目标相关论文：机制都在补“到达质量”，但评测口径不同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25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524000"/>
            <a:ext cx="11391900" cy="1028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255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1590675"/>
            <a:ext cx="1381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论文 / 任务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66925" y="15906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终点目标机制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34050" y="1590675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性能证据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639300" y="1590675"/>
            <a:ext cx="2057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读法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35814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95300" y="2619375"/>
            <a:ext cx="1381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MSGNav</a:t>
            </a:r>
            <a:endParaRPr sz="1200" b="1">
              <a:solidFill>
                <a:srgbClr val="222222"/>
              </a:solidFill>
            </a:endParaRPr>
          </a:p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GOAT / ObjNav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066925" y="26193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M3DSG 图像边场景图 + KSS；目标定位后用 VVD 采样可见性最高视点，解决 last-mile 站位。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734050" y="2619375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GOAT Val Unseen SR/SPL 52.0/29.6；HM3D-ObjNav 74.1/33.4；VVD 在 0.25m 阈值下 33.91 -&gt; 51.97。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639300" y="2619375"/>
            <a:ext cx="2057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修“找到目标后停在哪”。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00050" y="46101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95300" y="3648075"/>
            <a:ext cx="1381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ConsistNav</a:t>
            </a:r>
            <a:endParaRPr sz="1200" b="1">
              <a:solidFill>
                <a:srgbClr val="222222"/>
              </a:solidFill>
            </a:endParaRPr>
          </a:p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Zero-shot ObjectNav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066925" y="36480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Persistent Candidate Memory + 有限状态 executive + verified stop；把目标证据转成承诺、验证和停止。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34050" y="3648075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HM3Dv2 SR/SPL 84.2/41.2；HM3Dv1 63.2/34.8；MP3D 50.6/25.7；same-stack HM3Dv2 76.2 -&gt; 84.2。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39300" y="3648075"/>
            <a:ext cx="2057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修“看到线索后能否持续追踪并停下”。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56388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5300" y="4676775"/>
            <a:ext cx="1381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REALM</a:t>
            </a:r>
            <a:endParaRPr sz="1200" b="1">
              <a:solidFill>
                <a:srgbClr val="222222"/>
              </a:solidFill>
            </a:endParaRPr>
          </a:p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REVERIE-AIM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66925" y="46767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上游 stop 后接管短程 refinement；VSP 抑制不可见时 stop；BERT-QA + OWLv2 做实例级接地。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34050" y="4676775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ETPNav-FT ONS@0.1m 6.32 -&gt; 17.19，ONS@0.5m 12.20 -&gt; 25.89；真机 8.33 -&gt; 33.33。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39300" y="4676775"/>
            <a:ext cx="2057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修“到了附近但没有对准和看见”。</a:t>
            </a:r>
            <a:endParaRPr sz="1200" b="1">
              <a:solidFill>
                <a:srgbClr val="22222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00050" y="1524000"/>
            <a:ext cx="11391900" cy="14288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58483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共同空格：三篇都补 stop 后或目标附近的下游质量，仍没有把“上游何时该停”彻底解决。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00050" y="6162675"/>
            <a:ext cx="876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55555"/>
                </a:solidFill>
              </a:defRPr>
            </a:pPr>
            <a:r>
              <a:rPr sz="675" b="0">
                <a:solidFill>
                  <a:srgbClr val="555555"/>
                </a:solidFill>
              </a:rPr>
              <a:t>Sources: MSGNav arXiv:2511.10376; ConsistNav arXiv:2605.09869; REALM arXiv:2607.03792</a:t>
            </a:r>
            <a:endParaRPr sz="6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419100"/>
            <a:ext cx="3810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REALM</a:t>
            </a:r>
            <a:endParaRPr sz="5400" b="1">
              <a:solidFill>
                <a:srgbClr val="0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524000"/>
            <a:ext cx="790575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From Region Arrival to Instance-Level Grounding</a:t>
            </a:r>
            <a:endParaRPr sz="2850" b="1">
              <a:solidFill>
                <a:srgbClr val="000000"/>
              </a:solidFill>
            </a:endParaRPr>
          </a:p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in Vision-and-Language Navigation</a:t>
            </a:r>
            <a:endParaRPr sz="285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4290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论文讲解 | 30 分钟组会版</a:t>
            </a:r>
            <a:endParaRPr sz="1800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4762500"/>
            <a:ext cx="781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核心问题：一个导航轨迹“到达”了区域，是否真的看见并能定位目标实例？</a:t>
            </a:r>
            <a:endParaRPr sz="2100" b="0">
              <a:solidFill>
                <a:srgbClr val="222222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858250" y="400050"/>
            <a:ext cx="2933700" cy="60579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0" y="1066800"/>
            <a:ext cx="2381250" cy="457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Region</a:t>
            </a:r>
            <a:endParaRPr sz="3300" b="1">
              <a:solidFill>
                <a:srgbClr val="000000"/>
              </a:solidFill>
            </a:endParaRPr>
          </a:p>
          <a:p>
            <a:pPr algn="ctr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Arrival</a:t>
            </a:r>
            <a:endParaRPr sz="3300" b="1">
              <a:solidFill>
                <a:srgbClr val="000000"/>
              </a:solidFill>
            </a:endParaRPr>
          </a:p>
          <a:p>
            <a:endParaRPr sz="3300"/>
          </a:p>
          <a:p>
            <a:pPr algn="ctr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!=</a:t>
            </a:r>
            <a:endParaRPr sz="3300" b="1">
              <a:solidFill>
                <a:srgbClr val="000000"/>
              </a:solidFill>
            </a:endParaRPr>
          </a:p>
          <a:p>
            <a:endParaRPr sz="3300"/>
          </a:p>
          <a:p>
            <a:pPr algn="ctr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Instance</a:t>
            </a:r>
            <a:endParaRPr sz="3300" b="1">
              <a:solidFill>
                <a:srgbClr val="000000"/>
              </a:solidFill>
            </a:endParaRPr>
          </a:p>
          <a:p>
            <a:pPr algn="ctr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Grounding</a:t>
            </a:r>
            <a:endParaRPr sz="33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导览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这篇论文要解决的不是“怎么导航”，而是“停得算不算数”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1952625"/>
            <a:ext cx="933450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505075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0193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01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95500" y="2019300"/>
            <a:ext cx="828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评测漏洞：为什么 3m 内停止会产生虚假成功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3057525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25717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02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95500" y="2571750"/>
            <a:ext cx="828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诊断指标：ONS / GS / OracleGS 如何把失败归因拆开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3609975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38250" y="31242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03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095500" y="3124200"/>
            <a:ext cx="828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REALM 方法：上游不动，短程精调接管，最后开放词汇接地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4162425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38250" y="36766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04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095500" y="3676650"/>
            <a:ext cx="828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REVERIE-AIM：把区域终点改造成物体实例终点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43000" y="4714875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38250" y="4229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05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95500" y="4229100"/>
            <a:ext cx="828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实验结果：涨点、消融、真机，以及远未解决的天花板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43000" y="5267325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38250" y="47815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06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4781550"/>
            <a:ext cx="828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批判性评读：它修了什么，没有修什么，对我们有什么启发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1952625"/>
            <a:ext cx="9334500" cy="14288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问题钩子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最刺眼的现象：SR 看起来成功，目标却很可能不可见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  <a:endParaRPr sz="1125" b="0">
              <a:solidFill>
                <a:srgbClr val="555555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1504950"/>
            <a:ext cx="6762750" cy="3381375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858125" y="1619250"/>
            <a:ext cx="3143250" cy="1476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67675" y="1943100"/>
            <a:ext cx="2724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34.67%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67675" y="2819400"/>
            <a:ext cx="2724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ETPNav-FT 在传统 3m 标准下的 Success Rate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58125" y="3333750"/>
            <a:ext cx="3143250" cy="1476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67675" y="3657600"/>
            <a:ext cx="2724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11.31%</a:t>
            </a:r>
            <a:endParaRPr sz="3600" b="1">
              <a:solidFill>
                <a:srgbClr val="FF6B3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67675" y="4533900"/>
            <a:ext cx="2724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同一模型最终视角里目标可见的 OracleGS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52197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论文的判断：超过 80% 的传统“成功”没有真正完成实例级接地。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背景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REVERIE-CE 的成功标准只奖励位置，不检查视角和目标可见性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733550"/>
            <a:ext cx="3429000" cy="304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0383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传统 SR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686050"/>
            <a:ext cx="266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stop position within 3m of a pre-annotated endpoint</a:t>
            </a:r>
            <a:endParaRPr sz="1875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38862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 endpoint 是目标附近的导航点，不是物体实例本身。</a:t>
            </a:r>
            <a:endParaRPr sz="1500" b="0">
              <a:solidFill>
                <a:srgbClr val="5555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381500" y="1733550"/>
            <a:ext cx="3429000" cy="304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48200" y="20383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缺失检查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2705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67300" y="2686050"/>
            <a:ext cx="2247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是否面对目标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48200" y="3162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067300" y="3143250"/>
            <a:ext cx="2247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目标是否进入视野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48200" y="36195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67300" y="3600450"/>
            <a:ext cx="2247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目标是否足够大，可被定位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62950" y="1733550"/>
            <a:ext cx="3429000" cy="304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629650" y="20383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后果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29650" y="2686050"/>
            <a:ext cx="2667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能“到附近”，但不能服务后续检查、操作或真实机器人交互。</a:t>
            </a:r>
            <a:endParaRPr sz="1875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0050" y="5286375"/>
            <a:ext cx="809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区域级到达 != 实例级可接地</a:t>
            </a:r>
            <a:endParaRPr sz="2550" b="1">
              <a:solidFill>
                <a:srgbClr val="FF6B3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问题形式化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Last-3-Meter Grounding Gap 把“到达质量”重新定义为终态问题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5811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合格终态必须同时满足两个条件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2286000"/>
            <a:ext cx="4953000" cy="1809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5717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1. Physical proximity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31432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停止位置要接近目标实例周边的可导航点，而不是接近旧的区域 waypoint。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15050" y="2286000"/>
            <a:ext cx="4953000" cy="1809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25717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2. Visual groundability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31432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目标必须在第一人称视野中可见，且分辨率足以支持 bbox 级定位。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81125" y="4762500"/>
            <a:ext cx="942975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81125" y="5029200"/>
            <a:ext cx="942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Gap = reaching the general vicinity - achieving a final state for reliable grounding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指标设计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三个指标的价值在于解耦失败来源，而不是只换一个分数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1714500"/>
            <a:ext cx="11144250" cy="523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23875" y="2238375"/>
            <a:ext cx="11144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17811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指标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33625" y="1781175"/>
            <a:ext cx="4857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看什么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381875" y="1781175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失败说明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3875" y="2762250"/>
            <a:ext cx="11144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2305050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ONS@tau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33625" y="2305050"/>
            <a:ext cx="4857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停止点到目标实例周边可导航点的测地距离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81875" y="2305050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导航没有把 agent 带到物体附近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3875" y="3286125"/>
            <a:ext cx="11144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19125" y="282892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GS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333625" y="2828925"/>
            <a:ext cx="4857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最终视角检测 bbox 与 GT bbox 的 IoU &gt;= 0.5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81875" y="2828925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真实接地失败，混合导航与检测能力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3875" y="3810000"/>
            <a:ext cx="11144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19125" y="3352800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OracleGS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33625" y="3352800"/>
            <a:ext cx="4857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GT bbox 在画面中且面积 &gt;= 1%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81875" y="3352800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纯可见性失败，基本是导航/朝向问题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23875" y="1714500"/>
            <a:ext cx="11144250" cy="14288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524000" y="4667250"/>
            <a:ext cx="9144000" cy="7810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809750" y="48768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GS vs OracleGS 的差距：检测器的锅；OracleGS 本身低：导航终态的锅。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诊断结果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用这些指标重算后，传统成功率的泡沫被挤出来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5049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ETPNav-FT 在 REVERIE-AIM val-unseen 上的同一组结果</a:t>
            </a:r>
            <a:endParaRPr sz="1725" b="0">
              <a:solidFill>
                <a:srgbClr val="55555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2383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传统 SR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2276475"/>
            <a:ext cx="41910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048000" y="2276475"/>
            <a:ext cx="3632549" cy="2095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334250" y="22193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34.67%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952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ONS@0.1m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48000" y="2990850"/>
            <a:ext cx="41910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2990850"/>
            <a:ext cx="662178" cy="2095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29337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6.32%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36671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OracleGS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3705225"/>
            <a:ext cx="41910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048000" y="3705225"/>
            <a:ext cx="1185005" cy="209550"/>
          </a:xfrm>
          <a:prstGeom prst="rect">
            <a:avLst/>
          </a:prstGeom>
          <a:solidFill>
            <a:srgbClr val="0F8B8D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334250" y="364807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F8B8D"/>
                </a:solidFill>
              </a:defRPr>
            </a:pPr>
            <a:r>
              <a:rPr sz="1350" b="1">
                <a:solidFill>
                  <a:srgbClr val="0F8B8D"/>
                </a:solidFill>
              </a:rPr>
              <a:t>11.31%</a:t>
            </a:r>
            <a:endParaRPr sz="1350" b="1">
              <a:solidFill>
                <a:srgbClr val="0F8B8D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810625" y="2095500"/>
            <a:ext cx="2428875" cy="21431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096375" y="2400300"/>
            <a:ext cx="1905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&gt;80%</a:t>
            </a:r>
            <a:endParaRPr sz="4350" b="1">
              <a:solidFill>
                <a:srgbClr val="FF6B3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96375" y="3333750"/>
            <a:ext cx="190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传统“成功”没有真正看见并接地目标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4905375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这不是单个模型的偶然误差，而是评价协议把“区域到达”错当成“任务完成”。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Section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809750"/>
            <a:ext cx="876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REALM 方法</a:t>
            </a:r>
            <a:endParaRPr sz="480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33375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上游长程导航不重训；停止后由短程 refinement 模块重新找姿态和视角。</a:t>
            </a:r>
            <a:endParaRPr sz="1875" b="0">
              <a:solidFill>
                <a:srgbClr val="22222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方法总览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REALM 是一个接在 stop 之后的三段式 refinement 管线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  <a:endParaRPr sz="1125" b="0">
              <a:solidFill>
                <a:srgbClr val="555555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1525905"/>
            <a:ext cx="7993380" cy="352933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048625" y="180975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67725" y="17907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Navigation：任意上游 VLN policy 先走长程路径并发出 stop。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48625" y="238125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467725" y="2362200"/>
            <a:ext cx="300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Refinement：REALM 接管，短程移动/转向到目标可见且可操作的位置。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48625" y="31242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67725" y="3105150"/>
            <a:ext cx="300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Grounding：从最终观测中抽取目标短语，并用 OWLv2 输出 bbox。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7670" y="537337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设计关键：把长程规划和最后 3 米对准拆开，避免一个模型同时背两种目标。</a:t>
            </a:r>
            <a:endParaRPr sz="2175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方法动机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为什么要解耦：长程导航和短程对准其实是两类问题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714500"/>
            <a:ext cx="4762500" cy="32861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0574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上游导航</a:t>
            </a:r>
            <a:endParaRPr sz="225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7622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71600" y="2743200"/>
            <a:ext cx="3295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跨度：几十米、跨房间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32575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71600" y="3238500"/>
            <a:ext cx="3295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核心：路径规划、场景级推理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7528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3733800"/>
            <a:ext cx="3295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评价：是否到达目标附近区域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62750" y="1714500"/>
            <a:ext cx="4762500" cy="32861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48500" y="20574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短程 refinement</a:t>
            </a:r>
            <a:endParaRPr sz="2250" b="1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48500" y="27622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467600" y="2743200"/>
            <a:ext cx="3295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跨度：最后几米、局部视野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48500" y="32575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67600" y="3238500"/>
            <a:ext cx="3295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核心：物体可见性、姿态对准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48500" y="37528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67600" y="3733800"/>
            <a:ext cx="3295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评价：是否接近实例并可被视觉接地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95375" y="54292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解耦让 REALM 可以即插即用到图方法、视频方法、零样本方法和免训练 VLM 方法。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Refinement 模块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Refinement policy 用 UniNaVid 做短程 VLA，再用 LoRA 轻量适配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771650"/>
            <a:ext cx="3143250" cy="2857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输入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781300"/>
            <a:ext cx="238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第一人称 RGB 序列</a:t>
            </a:r>
            <a:endParaRPr sz="2100" b="0">
              <a:solidFill>
                <a:srgbClr val="222222"/>
              </a:solidFill>
            </a:endParaRPr>
          </a:p>
          <a:p>
            <a:pPr algn="ctr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+</a:t>
            </a:r>
            <a:endParaRPr sz="2100" b="0">
              <a:solidFill>
                <a:srgbClr val="222222"/>
              </a:solidFill>
            </a:endParaRPr>
          </a:p>
          <a:p>
            <a:pPr algn="ctr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原始语言指令</a:t>
            </a:r>
            <a:endParaRPr sz="2100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24375" y="1771650"/>
            <a:ext cx="3143250" cy="2857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791075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模型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91075" y="2781300"/>
            <a:ext cx="238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冻结视觉编码器</a:t>
            </a:r>
            <a:endParaRPr sz="1875" b="0">
              <a:solidFill>
                <a:srgbClr val="222222"/>
              </a:solidFill>
            </a:endParaRPr>
          </a:p>
          <a:p>
            <a:pPr algn="ctr"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LoRA 微调 LLM backbone 的线性层</a:t>
            </a:r>
            <a:endParaRPr sz="1875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01050" y="1771650"/>
            <a:ext cx="3143250" cy="2857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667750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输出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667750" y="2781300"/>
            <a:ext cx="238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未来四步动作</a:t>
            </a:r>
            <a:endParaRPr sz="1950" b="0">
              <a:solidFill>
                <a:srgbClr val="222222"/>
              </a:solidFill>
            </a:endParaRPr>
          </a:p>
          <a:p>
            <a:pPr algn="ctr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forward / left / right / stop</a:t>
            </a:r>
            <a:endParaRPr sz="1950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43000" y="523875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它不是重新解决完整 VLN，而是专门训练“最后几米怎么把目标放进视野”。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Visibility-aware Stop Penalty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VSP 的非对称性：不可见时想停就罚，看见了停不罚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12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600200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stop margin = z_stop - max(other actions)</a:t>
            </a:r>
            <a:endParaRPr sz="2250" b="1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381250"/>
            <a:ext cx="457200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62050" y="27146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62828"/>
                </a:solidFill>
              </a:defRPr>
            </a:pPr>
            <a:r>
              <a:rPr sz="2100" b="1">
                <a:solidFill>
                  <a:srgbClr val="D62828"/>
                </a:solidFill>
              </a:rPr>
              <a:t>Target NOT visible</a:t>
            </a:r>
            <a:endParaRPr sz="2100" b="1">
              <a:solidFill>
                <a:srgbClr val="D6282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3371850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ReLU(margin) 进入损失</a:t>
            </a:r>
            <a:endParaRPr sz="2025" b="0">
              <a:solidFill>
                <a:srgbClr val="222222"/>
              </a:solidFill>
            </a:endParaRPr>
          </a:p>
          <a:p>
            <a:pPr algn="ctr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压低 premature stop</a:t>
            </a:r>
            <a:endParaRPr sz="2025" b="0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43700" y="2381250"/>
            <a:ext cx="457200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29450" y="27146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48232"/>
                </a:solidFill>
              </a:defRPr>
            </a:pPr>
            <a:r>
              <a:rPr sz="2100" b="1">
                <a:solidFill>
                  <a:srgbClr val="248232"/>
                </a:solidFill>
              </a:rPr>
              <a:t>Target visible</a:t>
            </a:r>
            <a:endParaRPr sz="2100" b="1">
              <a:solidFill>
                <a:srgbClr val="24823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29450" y="3371850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不额外惩罚 stop</a:t>
            </a:r>
            <a:endParaRPr sz="2025" b="0">
              <a:solidFill>
                <a:srgbClr val="222222"/>
              </a:solidFill>
            </a:endParaRPr>
          </a:p>
          <a:p>
            <a:pPr algn="ctr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避免伤害正确终止</a:t>
            </a:r>
            <a:endParaRPr sz="2025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00150" y="5095875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这比“普通 stop penalty”更有针对性：它修的是过早停，而不是反对所有停。</a:t>
            </a:r>
            <a:endParaRPr sz="2175" b="1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12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Grounding 模块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视觉接地模块先净化语言，再用开放词汇检测器找框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13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000250"/>
            <a:ext cx="247650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247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原始指令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76225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go to the bathroom and clean the toilet seat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0" y="2000250"/>
            <a:ext cx="247650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191000" y="2247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BERT-QA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191000" y="27622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抽取目标名词短语</a:t>
            </a:r>
            <a:endParaRPr sz="1575" b="0">
              <a:solidFill>
                <a:srgbClr val="222222"/>
              </a:solidFill>
            </a:endParaRPr>
          </a:p>
          <a:p>
            <a:pPr algn="ctr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"toilet seat"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43750" y="2000250"/>
            <a:ext cx="247650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334250" y="2247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OWLv2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27622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用目标短语在最终观测中预测 bbox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33750" y="2724150"/>
            <a:ext cx="666750" cy="285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77000" y="2724150"/>
            <a:ext cx="666750" cy="285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" y="4762500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为什么要抽目标短语：完整指令里混有导航动词和空间线索，会干扰开放词汇检测。</a:t>
            </a:r>
            <a:endParaRPr sz="2175" b="1">
              <a:solidFill>
                <a:srgbClr val="000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13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Section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809750"/>
            <a:ext cx="876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REVERIE-AIM 数据</a:t>
            </a:r>
            <a:endParaRPr sz="480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33375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作者不只是换指标，还重建了更贴近实例目标的训练和评测数据。</a:t>
            </a:r>
            <a:endParaRPr sz="1875" b="0">
              <a:solidFill>
                <a:srgbClr val="22222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14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数据构建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15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15</a:t>
            </a:r>
            <a:endParaRPr sz="1125" b="0">
              <a:solidFill>
                <a:srgbClr val="555555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660" y="116840"/>
            <a:ext cx="9467850" cy="61760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数据构建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REVERIE-AIM 把“附近路点”改造成“物体实例附近可达点”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15</a:t>
            </a:r>
            <a:endParaRPr sz="1125" b="0">
              <a:solidFill>
                <a:srgbClr val="555555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1635401"/>
            <a:ext cx="4762500" cy="2691848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66750" y="1866900"/>
            <a:ext cx="323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5850" y="1847850"/>
            <a:ext cx="4819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离散 REVERIE 轨迹映射并插值到 Habitat 连续环境。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495550"/>
            <a:ext cx="323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2476500"/>
            <a:ext cx="4819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利用 Matterport3D 共享场景层级，对齐 REVERIE 与 ObjectNav 实例 ID。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3295650"/>
            <a:ext cx="323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3276600"/>
            <a:ext cx="4819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把原来的 region-level endpoint 替换为 object-centric endpoint。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5191125"/>
            <a:ext cx="1019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数据集贡献不是“又做一个 benchmark”，而是把评测目标从位置点拉回到物体实例。</a:t>
            </a:r>
            <a:endParaRPr sz="2175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15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数据规模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REVERIE-AIM 的两个关键数字：更近的终点和大量短程样本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16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619250"/>
            <a:ext cx="4857750" cy="1809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943100"/>
            <a:ext cx="4438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6B35"/>
                </a:solidFill>
              </a:defRPr>
            </a:pPr>
            <a:r>
              <a:rPr sz="3300" b="1">
                <a:solidFill>
                  <a:srgbClr val="FF6B35"/>
                </a:solidFill>
              </a:rPr>
              <a:t>1.32m -&gt; 0.34m</a:t>
            </a:r>
            <a:endParaRPr sz="3300" b="1">
              <a:solidFill>
                <a:srgbClr val="FF6B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819400"/>
            <a:ext cx="44386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平均最小测地距离从宽松区域终点缩到物体级终点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0" y="1619250"/>
            <a:ext cx="4095750" cy="1809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77050" y="1943100"/>
            <a:ext cx="3676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180K</a:t>
            </a:r>
            <a:endParaRPr sz="420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77050" y="2819400"/>
            <a:ext cx="36766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从训练 split 生成的 fine-grained navigation samples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3857625"/>
            <a:ext cx="31432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4181475"/>
            <a:ext cx="2724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3,691 / 1,344</a:t>
            </a:r>
            <a:endParaRPr sz="3150" b="1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5057775"/>
            <a:ext cx="2724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训练轨迹 / val-unseen 轨迹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24375" y="3857625"/>
            <a:ext cx="31432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33925" y="4181475"/>
            <a:ext cx="2724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53 / 10</a:t>
            </a:r>
            <a:endParaRPr sz="3150" b="1">
              <a:solidFill>
                <a:srgbClr val="00000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33925" y="5057775"/>
            <a:ext cx="2724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训练场景 / 未见验证场景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3857625"/>
            <a:ext cx="3143250" cy="1428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91550" y="4181475"/>
            <a:ext cx="2724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90 / 48</a:t>
            </a:r>
            <a:endParaRPr sz="3150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91550" y="5057775"/>
            <a:ext cx="2724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训练目标类别 / 验证目标类别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16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短程样本生成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短程训练样本刻意模拟“上游已经快到但还没对准”的状态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17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1809750"/>
            <a:ext cx="9334500" cy="647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457450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1876425"/>
            <a:ext cx="714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01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43125" y="1876425"/>
            <a:ext cx="8239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选参考路径倒数第二个节点作为 anchor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3105150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2524125"/>
            <a:ext cx="714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02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43125" y="2524125"/>
            <a:ext cx="8239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位置加截断高斯扰动，sigma=1.5，范围 [-5m, 5m]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3752850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38250" y="3171825"/>
            <a:ext cx="714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03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43125" y="3171825"/>
            <a:ext cx="8239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初始朝向随机采样到 [-pi, pi]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4400550"/>
            <a:ext cx="93345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38250" y="3819525"/>
            <a:ext cx="714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04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43125" y="3819525"/>
            <a:ext cx="8239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计算到物体周边采样点的最短路，生成 action label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43000" y="1809750"/>
            <a:ext cx="9334500" cy="14288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52500" y="514350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读法：REALM 训练分布默认“目标在最后几米内”，因此它擅长修正姿态和可见性，不负责判断上游是否停错房间。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17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Section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809750"/>
            <a:ext cx="876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实验与结果</a:t>
            </a:r>
            <a:endParaRPr sz="480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33375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REALM 在四类上游上都涨，但绝对性能距离人类还很远。</a:t>
            </a:r>
            <a:endParaRPr sz="1875" b="0">
              <a:solidFill>
                <a:srgbClr val="22222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18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实验设置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实验设计覆盖四类上游和六种 destination 后移动策略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19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95450"/>
            <a:ext cx="5286375" cy="476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171700"/>
            <a:ext cx="52863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7621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上游 backbone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457450" y="1762125"/>
            <a:ext cx="3286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代表范式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647950"/>
            <a:ext cx="52863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223837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ETPNav-ZS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57450" y="2238375"/>
            <a:ext cx="3286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zero-shot topological planning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124200"/>
            <a:ext cx="52863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2714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ETPNav-FT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457450" y="2714625"/>
            <a:ext cx="3286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fine-tuned topological planning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2450" y="3600450"/>
            <a:ext cx="52863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7700" y="319087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UniNaVid-ZS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57450" y="3190875"/>
            <a:ext cx="3286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video-based VLA baseline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076700"/>
            <a:ext cx="52863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7700" y="36671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SmartWay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457450" y="3667125"/>
            <a:ext cx="3286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training-free large VLM paradigm</a:t>
            </a:r>
            <a:endParaRPr sz="1425" b="1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52450" y="1695450"/>
            <a:ext cx="5286375" cy="14288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667500" y="1695450"/>
            <a:ext cx="4476750" cy="2476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953250" y="20193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Downstream variants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953250" y="2667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372350" y="2647950"/>
            <a:ext cx="3295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no move / random / CLIP-search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953250" y="3086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72350" y="3067050"/>
            <a:ext cx="3295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Vanilla UniNaVid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953250" y="35052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372350" y="3486150"/>
            <a:ext cx="3295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Ours w/o VSP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953250" y="3924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372350" y="3905250"/>
            <a:ext cx="3295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Ours (Full)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8200" y="5095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重要控制：标准 VLN 指标在每个 backbone 内固定，REALM 只改变 stop 后的 final-meters behavior。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19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模拟结果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模拟实验显示：REALM 对四类上游都能稳定提升最后几米质量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20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809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ETPNav-ZS ONS@0.1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952750" y="1847850"/>
            <a:ext cx="45720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952750" y="1847850"/>
            <a:ext cx="3723640" cy="2095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20000" y="17907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14.66%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476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ETPNav-FT ONS@0.1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952750" y="2514600"/>
            <a:ext cx="45720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952750" y="2514600"/>
            <a:ext cx="4366260" cy="2095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20000" y="24574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17.19%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31432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UniNaVid-ZS ONS@0.1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3181350"/>
            <a:ext cx="45720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952750" y="3181350"/>
            <a:ext cx="3799840" cy="2095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20000" y="31242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14.96%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8100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SmartWay ONS@0.1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52750" y="3848100"/>
            <a:ext cx="45720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952750" y="3848100"/>
            <a:ext cx="3553460" cy="2095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20000" y="37909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13.99%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10625" y="1952625"/>
            <a:ext cx="2428875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096375" y="228600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4/4</a:t>
            </a:r>
            <a:endParaRPr sz="4350" b="1">
              <a:solidFill>
                <a:srgbClr val="FF6B3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096375" y="32194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上游 backbone</a:t>
            </a:r>
            <a:endParaRPr sz="1800" b="0">
              <a:solidFill>
                <a:srgbClr val="222222"/>
              </a:solidFill>
            </a:endParaRPr>
          </a:p>
          <a:p>
            <a:pPr algn="ctr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全部涨点</a:t>
            </a:r>
            <a:endParaRPr sz="1800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04875" y="5095875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最值得强调的是可插拔性：不是只帮某一个架构补丁，而是补整个 pipeline 的最后阶段。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20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关键对比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ETPNav-FT 案例：精调把 ONS@0.1m 从 6.32 拉到 17.19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21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790700"/>
            <a:ext cx="103822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343150"/>
            <a:ext cx="10382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85737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Move policy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43300" y="18573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ONS@0.1m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53050" y="18573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ONS@0.5m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62800" y="18573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GS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72550" y="18573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OracleGS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895600"/>
            <a:ext cx="10382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240982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no move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43300" y="240982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6.32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53050" y="240982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12.20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162800" y="240982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4.46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72550" y="240982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11.31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3448050"/>
            <a:ext cx="10382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296227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Vanilla UniNaVid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543300" y="29622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13.39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53050" y="29622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19.12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62800" y="29622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4.91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972550" y="29622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12.57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4000500"/>
            <a:ext cx="10382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76300" y="351472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Ours w/o VSP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543300" y="351472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16.82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353050" y="351472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25.00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162800" y="351472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8.04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972550" y="351472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19.79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81050" y="4552950"/>
            <a:ext cx="10382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76300" y="406717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Ours (Full)</a:t>
            </a:r>
            <a:endParaRPr sz="1650" b="1">
              <a:solidFill>
                <a:srgbClr val="222222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543300" y="40671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48232"/>
                </a:solidFill>
              </a:defRPr>
            </a:pPr>
            <a:r>
              <a:rPr sz="1650" b="1">
                <a:solidFill>
                  <a:srgbClr val="248232"/>
                </a:solidFill>
              </a:rPr>
              <a:t>17.19</a:t>
            </a:r>
            <a:endParaRPr sz="1650" b="1">
              <a:solidFill>
                <a:srgbClr val="248232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353050" y="40671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48232"/>
                </a:solidFill>
              </a:defRPr>
            </a:pPr>
            <a:r>
              <a:rPr sz="1650" b="1">
                <a:solidFill>
                  <a:srgbClr val="248232"/>
                </a:solidFill>
              </a:rPr>
              <a:t>25.89</a:t>
            </a:r>
            <a:endParaRPr sz="1650" b="1">
              <a:solidFill>
                <a:srgbClr val="248232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62800" y="4067175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48232"/>
                </a:solidFill>
              </a:defRPr>
            </a:pPr>
            <a:r>
              <a:rPr sz="1650" b="1">
                <a:solidFill>
                  <a:srgbClr val="248232"/>
                </a:solidFill>
              </a:rPr>
              <a:t>8.48</a:t>
            </a:r>
            <a:endParaRPr sz="1650" b="1">
              <a:solidFill>
                <a:srgbClr val="248232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40671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48232"/>
                </a:solidFill>
              </a:defRPr>
            </a:pPr>
            <a:r>
              <a:rPr sz="1650" b="1">
                <a:solidFill>
                  <a:srgbClr val="248232"/>
                </a:solidFill>
              </a:rPr>
              <a:t>20.24</a:t>
            </a:r>
            <a:endParaRPr sz="1650" b="1">
              <a:solidFill>
                <a:srgbClr val="248232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81050" y="1790700"/>
            <a:ext cx="10382250" cy="14288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76300" y="5095875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涨点最大不意味着问题解决：Full 的 ONS@0.5m 仍只有 25.89%，远低于 Human Eval 74.71%。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21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Table 2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原表证据：提升是系统性的，但表格也暴露了天花板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22</a:t>
            </a:r>
            <a:endParaRPr sz="1125" b="0">
              <a:solidFill>
                <a:srgbClr val="555555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253" y="1428750"/>
            <a:ext cx="6474493" cy="46863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762875" y="1809750"/>
            <a:ext cx="3143250" cy="1314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48625" y="2076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Human Eval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48625" y="2552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ONS@0.5m = 74.71</a:t>
            </a:r>
            <a:endParaRPr sz="1950" b="1">
              <a:solidFill>
                <a:srgbClr val="FF6B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762875" y="3571875"/>
            <a:ext cx="3143250" cy="1314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48625" y="38385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Best full model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48625" y="43148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48232"/>
                </a:solidFill>
              </a:defRPr>
            </a:pPr>
            <a:r>
              <a:rPr sz="1950" b="1">
                <a:solidFill>
                  <a:srgbClr val="248232"/>
                </a:solidFill>
              </a:rPr>
              <a:t>ONS@0.5m = 25.89</a:t>
            </a:r>
            <a:endParaRPr sz="1950" b="1">
              <a:solidFill>
                <a:srgbClr val="24823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67625" y="5286375"/>
            <a:ext cx="361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解读重点：REALM 证明 final-meters refinement 有用，但没有把可靠停止和主动视角选择真正解决。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22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消融与天花板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VSP 的消融说明：收益来自停止策略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23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71625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UniNaVid-ZS 上去掉 VSP：ONS@0.1m 从 14.96 掉到 12.43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3812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Ours w/o VSP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952750" y="2419350"/>
            <a:ext cx="55245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52750" y="2419350"/>
            <a:ext cx="1248537" cy="209550"/>
          </a:xfrm>
          <a:prstGeom prst="rect">
            <a:avLst/>
          </a:prstGeom>
          <a:solidFill>
            <a:srgbClr val="555555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0" y="23622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12.43%</a:t>
            </a:r>
            <a:endParaRPr sz="1350" b="1">
              <a:solidFill>
                <a:srgbClr val="55555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30480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Ours (Full)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52750" y="3086100"/>
            <a:ext cx="55245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952750" y="3086100"/>
            <a:ext cx="1502664" cy="209550"/>
          </a:xfrm>
          <a:prstGeom prst="rect">
            <a:avLst/>
          </a:prstGeom>
          <a:solidFill>
            <a:srgbClr val="248232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72500" y="30289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48232"/>
                </a:solidFill>
              </a:defRPr>
            </a:pPr>
            <a:r>
              <a:rPr sz="1350" b="1">
                <a:solidFill>
                  <a:srgbClr val="248232"/>
                </a:solidFill>
              </a:rPr>
              <a:t>14.96%</a:t>
            </a:r>
            <a:endParaRPr sz="1350" b="1">
              <a:solidFill>
                <a:srgbClr val="24823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3714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Human Eval</a:t>
            </a:r>
            <a:endParaRPr sz="1350" b="1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52750" y="3752850"/>
            <a:ext cx="5524500" cy="209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952750" y="3752850"/>
            <a:ext cx="5062451" cy="2095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72500" y="36957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50.40%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5000625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同一指标口径下看：VSP 带来稳定增益，但 Human Eval 仍说明最后几米远未被解决。</a:t>
            </a:r>
            <a:endParaRPr sz="2025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23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Real-world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真机结果是有信号的，但证据级别仍然很初步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24</a:t>
            </a:r>
            <a:endParaRPr sz="1125" b="0">
              <a:solidFill>
                <a:srgbClr val="555555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887249"/>
            <a:ext cx="5143500" cy="1597602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000875" y="1666875"/>
            <a:ext cx="3619500" cy="1714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10425" y="1990725"/>
            <a:ext cx="320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8.33 -&gt; 33.33</a:t>
            </a:r>
            <a:endParaRPr sz="3000" b="1">
              <a:solidFill>
                <a:srgbClr val="FF6B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10425" y="2867025"/>
            <a:ext cx="3200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Hello Robot Stretch 上 ONS@0.5m 的提升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41148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</a:t>
            </a:r>
            <a:endParaRPr sz="1725" b="1">
              <a:solidFill>
                <a:srgbClr val="FF6B3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4095750"/>
            <a:ext cx="891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12 个真实环境 episode，包含机器人实验室、学校 lobby 和 foyer。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478155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</a:t>
            </a:r>
            <a:endParaRPr sz="1725" b="1">
              <a:solidFill>
                <a:srgbClr val="FF6B3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71600" y="4762500"/>
            <a:ext cx="891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使用 Intel RealSense D435if RGB-D，工作站 RTX 4090。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53721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-</a:t>
            </a:r>
            <a:endParaRPr sz="1725" b="1">
              <a:solidFill>
                <a:srgbClr val="FF6B3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71600" y="5353050"/>
            <a:ext cx="891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结果说明方向有希望，但 n=12 只能当 preliminary evidence。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24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Section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809750"/>
            <a:ext cx="876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批判性评读</a:t>
            </a:r>
            <a:endParaRPr sz="480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33375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222222"/>
                </a:solidFill>
              </a:defRPr>
            </a:pPr>
            <a:r>
              <a:rPr sz="1875" b="0">
                <a:solidFill>
                  <a:srgbClr val="222222"/>
                </a:solidFill>
              </a:rPr>
              <a:t>REALM 修的是“到了但没对准”，不是“到底该不该停”。</a:t>
            </a:r>
            <a:endParaRPr sz="1875" b="0">
              <a:solidFill>
                <a:srgbClr val="222222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26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核心局限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这篇论文最重要的局限：它默认上游已经把 agent 带到目标邻域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27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666875"/>
            <a:ext cx="47625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0002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训练分布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667000"/>
            <a:ext cx="3810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倒数第二节点附近</a:t>
            </a:r>
            <a:endParaRPr sz="2100" b="0">
              <a:solidFill>
                <a:srgbClr val="222222"/>
              </a:solidFill>
            </a:endParaRPr>
          </a:p>
          <a:p>
            <a:pPr algn="ctr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[-5m, 5m] 扰动</a:t>
            </a:r>
            <a:endParaRPr sz="2100" b="0">
              <a:solidFill>
                <a:srgbClr val="222222"/>
              </a:solidFill>
            </a:endParaRPr>
          </a:p>
          <a:p>
            <a:pPr algn="ctr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随机朝向</a:t>
            </a:r>
            <a:endParaRPr sz="2100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62750" y="1666875"/>
            <a:ext cx="47625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048500" y="20002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分布外场景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0" y="2667000"/>
            <a:ext cx="3810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上游停在错误房间</a:t>
            </a:r>
            <a:endParaRPr sz="2025" b="0">
              <a:solidFill>
                <a:srgbClr val="222222"/>
              </a:solidFill>
            </a:endParaRPr>
          </a:p>
          <a:p>
            <a:pPr algn="ctr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或离目标 8m 外</a:t>
            </a:r>
            <a:endParaRPr sz="2025" b="0">
              <a:solidFill>
                <a:srgbClr val="222222"/>
              </a:solidFill>
            </a:endParaRPr>
          </a:p>
          <a:p>
            <a:pPr algn="ctr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REALM 不会质疑 stop 本身</a:t>
            </a:r>
            <a:endParaRPr sz="2025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90625" y="4953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所以它解决的是 final alignment，不是 upstream stopping decision reliability。</a:t>
            </a:r>
            <a:endParaRPr sz="2400" b="1">
              <a:solidFill>
                <a:srgbClr val="FF6B3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27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评读清单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评读时可以把贡献和风险分开讲，避免只说“涨点”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28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1619250"/>
            <a:ext cx="10934700" cy="666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286000"/>
            <a:ext cx="10934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685925"/>
            <a:ext cx="514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贡献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19800" y="1685925"/>
            <a:ext cx="541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仍需验证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2952750"/>
            <a:ext cx="10934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352675"/>
            <a:ext cx="514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把 SR 泡沫拆成 ONS / GS / OracleGS 三个诊断轴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19800" y="2352675"/>
            <a:ext cx="541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自建 REVERIE-AIM 上评测，社区横向复验还没发生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0550" y="3619500"/>
            <a:ext cx="10934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3019425"/>
            <a:ext cx="514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REALM 即插即用，不绑定上游架构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19800" y="3019425"/>
            <a:ext cx="541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VSP 训练期依赖模拟器可见性标注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0550" y="4286250"/>
            <a:ext cx="10934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686175"/>
            <a:ext cx="514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短程 refinement 在四类上游上稳定涨点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19800" y="3686175"/>
            <a:ext cx="541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真机 n=12，更多是可行性展示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0550" y="4953000"/>
            <a:ext cx="10934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4352925"/>
            <a:ext cx="514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直接暴露最后 3 米的真实难度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19800" y="4352925"/>
            <a:ext cx="541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可靠停止决策仍被列为 future work</a:t>
            </a:r>
            <a:endParaRPr sz="1500" b="1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1619250"/>
            <a:ext cx="10934700" cy="14288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04875" y="561975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最值得学的方法论：先设计能归因的指标，再让方法只修其中一个明确缺口。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28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联系到我们的工作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对我们最有用的启示：SR 通胀可能来自两个独立源头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29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809750"/>
            <a:ext cx="4762500" cy="2476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14312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REALM 暴露的通胀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905125"/>
            <a:ext cx="400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222222"/>
                </a:solidFill>
              </a:defRPr>
            </a:pPr>
            <a:r>
              <a:rPr sz="2175" b="0">
                <a:solidFill>
                  <a:srgbClr val="222222"/>
                </a:solidFill>
              </a:rPr>
              <a:t>区域到达被当成实例接地</a:t>
            </a:r>
            <a:endParaRPr sz="2175" b="0">
              <a:solidFill>
                <a:srgbClr val="222222"/>
              </a:solidFill>
            </a:endParaRPr>
          </a:p>
          <a:p>
            <a:pPr algn="ctr">
              <a:defRPr sz="2175" b="0">
                <a:solidFill>
                  <a:srgbClr val="222222"/>
                </a:solidFill>
              </a:defRPr>
            </a:pPr>
            <a:r>
              <a:rPr sz="2175" b="0">
                <a:solidFill>
                  <a:srgbClr val="222222"/>
                </a:solidFill>
              </a:rPr>
              <a:t>“到了但没对准”</a:t>
            </a:r>
            <a:endParaRPr sz="2175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62750" y="1809750"/>
            <a:ext cx="4762500" cy="2476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048500" y="214312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我们关注的通胀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0" y="2905125"/>
            <a:ext cx="400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0">
                <a:solidFill>
                  <a:srgbClr val="222222"/>
                </a:solidFill>
              </a:defRPr>
            </a:pPr>
            <a:r>
              <a:rPr sz="2175" b="0">
                <a:solidFill>
                  <a:srgbClr val="222222"/>
                </a:solidFill>
              </a:rPr>
              <a:t>终止判断被 oracle 或协议补贴</a:t>
            </a:r>
            <a:endParaRPr sz="2175" b="0">
              <a:solidFill>
                <a:srgbClr val="222222"/>
              </a:solidFill>
            </a:endParaRPr>
          </a:p>
          <a:p>
            <a:pPr algn="ctr">
              <a:defRPr sz="2175" b="0">
                <a:solidFill>
                  <a:srgbClr val="222222"/>
                </a:solidFill>
              </a:defRPr>
            </a:pPr>
            <a:r>
              <a:rPr sz="2175" b="0">
                <a:solidFill>
                  <a:srgbClr val="222222"/>
                </a:solidFill>
              </a:rPr>
              <a:t>“没到却说到了”</a:t>
            </a:r>
            <a:endParaRPr sz="2175" b="0">
              <a:solidFill>
                <a:srgbClr val="22222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00125" y="5095875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同一个 SR 指标，可能同时高估终止能力和实例接地能力；评测卫生本身是系统性问题。</a:t>
            </a:r>
            <a:endParaRPr sz="2250" b="1">
              <a:solidFill>
                <a:srgbClr val="FF6B3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29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总结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一句话收尾：REALM 修 pipeline 的尾部，我们的问题在 pipeline 的 stop gate</a:t>
            </a:r>
            <a:endParaRPr sz="2925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30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9526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REALM 修的是</a:t>
            </a:r>
            <a:endParaRPr sz="2700" b="1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6670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FF6B35"/>
                </a:solidFill>
              </a:defRPr>
            </a:pPr>
            <a:r>
              <a:rPr sz="3450" b="1">
                <a:solidFill>
                  <a:srgbClr val="FF6B35"/>
                </a:solidFill>
              </a:rPr>
              <a:t>“到了但没对准”</a:t>
            </a:r>
            <a:endParaRPr sz="3450" b="1">
              <a:solidFill>
                <a:srgbClr val="FF6B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19526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我们修的是</a:t>
            </a:r>
            <a:endParaRPr sz="27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24625" y="26670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FF6B35"/>
                </a:solidFill>
              </a:defRPr>
            </a:pPr>
            <a:r>
              <a:rPr sz="3450" b="1">
                <a:solidFill>
                  <a:srgbClr val="FF6B35"/>
                </a:solidFill>
              </a:rPr>
              <a:t>“没到却说到了”</a:t>
            </a:r>
            <a:endParaRPr sz="3450" b="1">
              <a:solidFill>
                <a:srgbClr val="FF6B3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4143375"/>
            <a:ext cx="1000125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461962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这两件事首尾相接：一个决定何时停止，一个决定停止后是否真正可接地。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63627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Shi et al., arXiv:2607.03792v1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58550" y="62674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30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7614</Words>
  <Application>WPS 演示</Application>
  <PresentationFormat>Converted Presentation</PresentationFormat>
  <Paragraphs>878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沉也</cp:lastModifiedBy>
  <cp:revision>5</cp:revision>
  <dcterms:created xsi:type="dcterms:W3CDTF">2026-07-13T06:45:23Z</dcterms:created>
  <dcterms:modified xsi:type="dcterms:W3CDTF">2026-07-13T06:45:23Z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635350B1C207AAB40886546A4C3276EB_42</vt:lpwstr>
  </property>
  <property fmtid="{D5CDD505-2E9C-101B-9397-08002B2CF9AE}" pid="3" name="KSOProductBuildVer">
    <vt:lpwstr>2052-12.1.22218.22218</vt:lpwstr>
  </property>
</Properties>
</file>