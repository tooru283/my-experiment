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62" r:id="rId4"/>
    <p:sldId id="264" r:id="rId6"/>
    <p:sldId id="265" r:id="rId7"/>
    <p:sldId id="266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可以把这个任务理解成虚拟机器人找路。它根据一句文字指令在室内移动，最终要停在目标附近。我现在重点解决的不是单纯“能不能找到目标”，而是它明明已经进入成功范围，却没有意识到应该停下，最后又走了出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段时间的工作量不仅是修改代码，还包括反复运行、对照和复盘。近一个月完成了48轮正式评测，其中17轮是完整的100集评测，累计接近2000个导航任务。项目保留了逐任务和逐步骤记录，因此可以追踪智能体什么时候进入目标范围、为什么没有停、最后走向了哪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在的实验围绕同一个问题设计：不能只听模型说“我到了”。系统要结合视觉证据、深度信息和路线进度进行判断。已经接入的部分包括受控实验框架、视觉停止验证、主动停止和失败恢复；现在正在做深度判断、路线状态、回溯和负目标记忆的单开关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阶段结果说明，这条技术路线确实对准了问题。系统曾经到达目标的能力变化不大，从25%到26%，但最终成功率从16%提高到了24%。提升主要来自把已经到达的机会真正转化成成功，丢失机会从9个减少到2个。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步继续按照单开关实验推进，一次只验证一个机制，确保能够说明提升来自哪里。有效机制再组合起来进行完整100集评测。后续还会筛选更合适的模型底座，并尝试训练选路与停止模块。我的工作不是只让智能体走到过目标，而是让它在真正到达时能够判断出来，并可靠地停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818B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0"/>
              </a:rPr>
              <a:t>室内视觉语言导航实验进展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651052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8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052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7818B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0"/>
              </a:rPr>
              <a:t>室内视觉语言导航实验进展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469880" y="6510528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81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2026-07-13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105" y="965200"/>
            <a:ext cx="5533390" cy="12249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当前的主要研究方向</a:t>
            </a:r>
            <a:r>
              <a:rPr lang="en-US" altLang="zh-CN" sz="28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：</a:t>
            </a:r>
            <a:r>
              <a:rPr lang="en-US" sz="28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让导航智能体到达后“停得住”</a:t>
            </a:r>
            <a:endParaRPr lang="en-US" sz="280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3232" y="2770632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核心科学问题</a:t>
            </a:r>
            <a:endParaRPr lang="en-US" sz="110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3232" y="3090672"/>
            <a:ext cx="516636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智能体已经进入目标范围，却没有及时停止，最后又走了出去。</a:t>
            </a:r>
            <a:endParaRPr lang="en-US" sz="2000" b="1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3232" y="4343400"/>
            <a:ext cx="4343400" cy="0"/>
          </a:xfrm>
          <a:prstGeom prst="line">
            <a:avLst/>
          </a:prstGeom>
          <a:noFill/>
          <a:ln w="15240">
            <a:solidFill>
              <a:srgbClr val="D7DC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455371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55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怎么把</a:t>
            </a:r>
            <a:r>
              <a:rPr lang="en-US" sz="155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“曾经到过”转化为“最终停对”</a:t>
            </a:r>
            <a:endParaRPr lang="en-US" sz="155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199505" y="1078865"/>
            <a:ext cx="5066030" cy="4773295"/>
            <a:chOff x="9763" y="1699"/>
            <a:chExt cx="7978" cy="7517"/>
          </a:xfrm>
        </p:grpSpPr>
        <p:sp>
          <p:nvSpPr>
            <p:cNvPr id="7" name="Shape 5"/>
            <p:cNvSpPr/>
            <p:nvPr/>
          </p:nvSpPr>
          <p:spPr>
            <a:xfrm>
              <a:off x="12211" y="2131"/>
              <a:ext cx="4680" cy="4680"/>
            </a:xfrm>
            <a:prstGeom prst="ellipse">
              <a:avLst/>
            </a:prstGeom>
            <a:solidFill>
              <a:srgbClr val="DCEBE5">
                <a:alpha val="78000"/>
              </a:srgbClr>
            </a:solidFill>
            <a:ln w="25400">
              <a:solidFill>
                <a:srgbClr val="2E7D62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3997" y="3902"/>
              <a:ext cx="1094" cy="1094"/>
            </a:xfrm>
            <a:prstGeom prst="ellipse">
              <a:avLst/>
            </a:prstGeom>
            <a:solidFill>
              <a:srgbClr val="2E7D62"/>
            </a:solidFill>
            <a:ln w="12700">
              <a:solidFill>
                <a:srgbClr val="2E7D62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14141" y="4190"/>
              <a:ext cx="79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Times New Roman" panose="02020603050405020304" charset="0"/>
                  <a:ea typeface="宋体-简" panose="02010800040101010101" charset="-122"/>
                  <a:cs typeface="Arial Unicode MS" panose="020B0604020202020204" pitchFamily="34" charset="-120"/>
                </a:rPr>
                <a:t>目标</a:t>
              </a:r>
              <a:endParaRPr lang="en-US" sz="1100" b="1" dirty="0">
                <a:solidFill>
                  <a:srgbClr val="FFFFFF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2701" y="1699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E7D62"/>
                  </a:solidFill>
                  <a:latin typeface="Times New Roman" panose="02020603050405020304" charset="0"/>
                  <a:ea typeface="宋体-简" panose="02010800040101010101" charset="-122"/>
                  <a:cs typeface="Arial Unicode MS" panose="020B0604020202020204" pitchFamily="34" charset="-120"/>
                </a:rPr>
                <a:t>目标范围（3m）</a:t>
              </a:r>
              <a:endParaRPr lang="en-US" sz="120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10440" y="7344"/>
              <a:ext cx="1469" cy="1181"/>
            </a:xfrm>
            <a:prstGeom prst="line">
              <a:avLst/>
            </a:prstGeom>
            <a:noFill/>
            <a:ln w="50800">
              <a:solidFill>
                <a:srgbClr val="2A6F97"/>
              </a:solidFill>
              <a:prstDash val="solid"/>
              <a:headEnd type="none"/>
              <a:tailEnd type="none"/>
            </a:ln>
          </p:spPr>
        </p:sp>
        <p:sp>
          <p:nvSpPr>
            <p:cNvPr id="12" name="Shape 10"/>
            <p:cNvSpPr/>
            <p:nvPr/>
          </p:nvSpPr>
          <p:spPr>
            <a:xfrm>
              <a:off x="11851" y="6394"/>
              <a:ext cx="1210" cy="979"/>
            </a:xfrm>
            <a:prstGeom prst="line">
              <a:avLst/>
            </a:prstGeom>
            <a:noFill/>
            <a:ln w="50800">
              <a:solidFill>
                <a:srgbClr val="2A6F97"/>
              </a:solidFill>
              <a:prstDash val="solid"/>
              <a:headEnd type="none"/>
              <a:tailEnd type="none"/>
            </a:ln>
          </p:spPr>
        </p:sp>
        <p:sp>
          <p:nvSpPr>
            <p:cNvPr id="13" name="Shape 11"/>
            <p:cNvSpPr/>
            <p:nvPr/>
          </p:nvSpPr>
          <p:spPr>
            <a:xfrm>
              <a:off x="13003" y="5414"/>
              <a:ext cx="1037" cy="1037"/>
            </a:xfrm>
            <a:prstGeom prst="line">
              <a:avLst/>
            </a:prstGeom>
            <a:noFill/>
            <a:ln w="50800">
              <a:solidFill>
                <a:srgbClr val="2A6F97"/>
              </a:solidFill>
              <a:prstDash val="solid"/>
              <a:headEnd type="none"/>
              <a:tailEnd type="none"/>
            </a:ln>
          </p:spPr>
        </p:sp>
        <p:sp>
          <p:nvSpPr>
            <p:cNvPr id="14" name="Shape 12"/>
            <p:cNvSpPr/>
            <p:nvPr/>
          </p:nvSpPr>
          <p:spPr>
            <a:xfrm>
              <a:off x="13982" y="4709"/>
              <a:ext cx="504" cy="749"/>
            </a:xfrm>
            <a:prstGeom prst="line">
              <a:avLst/>
            </a:prstGeom>
            <a:noFill/>
            <a:ln w="50800">
              <a:solidFill>
                <a:srgbClr val="2A6F97"/>
              </a:solidFill>
              <a:prstDash val="solid"/>
              <a:headEnd type="none"/>
              <a:tailEnd type="none"/>
            </a:ln>
          </p:spPr>
        </p:sp>
        <p:sp>
          <p:nvSpPr>
            <p:cNvPr id="15" name="Shape 13"/>
            <p:cNvSpPr/>
            <p:nvPr/>
          </p:nvSpPr>
          <p:spPr>
            <a:xfrm>
              <a:off x="14486" y="2765"/>
              <a:ext cx="2534" cy="1944"/>
            </a:xfrm>
            <a:prstGeom prst="line">
              <a:avLst/>
            </a:prstGeom>
            <a:noFill/>
            <a:ln w="50800">
              <a:solidFill>
                <a:srgbClr val="B44E4E"/>
              </a:solidFill>
              <a:prstDash val="solid"/>
              <a:tailEnd type="triangle"/>
            </a:ln>
          </p:spPr>
        </p:sp>
        <p:sp>
          <p:nvSpPr>
            <p:cNvPr id="16" name="Shape 14"/>
            <p:cNvSpPr/>
            <p:nvPr/>
          </p:nvSpPr>
          <p:spPr>
            <a:xfrm>
              <a:off x="10166" y="8294"/>
              <a:ext cx="475" cy="475"/>
            </a:xfrm>
            <a:prstGeom prst="ellipse">
              <a:avLst/>
            </a:prstGeom>
            <a:solidFill>
              <a:srgbClr val="2A6F97"/>
            </a:solidFill>
            <a:ln w="15240">
              <a:solidFill>
                <a:srgbClr val="FFFFF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9763" y="8856"/>
              <a:ext cx="1296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50" dirty="0">
                  <a:solidFill>
                    <a:srgbClr val="6E7984"/>
                  </a:solidFill>
                  <a:latin typeface="Times New Roman" panose="02020603050405020304" charset="0"/>
                  <a:ea typeface="宋体-简" panose="02010800040101010101" charset="-122"/>
                  <a:cs typeface="Arial Unicode MS" panose="020B0604020202020204" pitchFamily="34" charset="-120"/>
                </a:rPr>
                <a:t>起点</a:t>
              </a:r>
              <a:endParaRPr lang="en-US" sz="105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11794" y="6941"/>
              <a:ext cx="2232" cy="461"/>
            </a:xfrm>
            <a:prstGeom prst="roundRect">
              <a:avLst>
                <a:gd name="adj" fmla="val 15625"/>
              </a:avLst>
            </a:prstGeom>
            <a:solidFill>
              <a:srgbClr val="DCEBF3"/>
            </a:solidFill>
            <a:ln w="12700">
              <a:solidFill>
                <a:srgbClr val="DCEBF3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1794" y="6955"/>
              <a:ext cx="2232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2A6F97"/>
                  </a:solidFill>
                  <a:latin typeface="Times New Roman" panose="02020603050405020304" charset="0"/>
                  <a:ea typeface="宋体-简" panose="02010800040101010101" charset="-122"/>
                  <a:cs typeface="Arial Unicode MS" panose="020B0604020202020204" pitchFamily="34" charset="-120"/>
                </a:rPr>
                <a:t>已经进入范围</a:t>
              </a:r>
              <a:endParaRPr lang="en-US" sz="95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15955" y="1843"/>
              <a:ext cx="1786" cy="461"/>
            </a:xfrm>
            <a:prstGeom prst="roundRect">
              <a:avLst>
                <a:gd name="adj" fmla="val 15625"/>
              </a:avLst>
            </a:prstGeom>
            <a:solidFill>
              <a:srgbClr val="F3DEDE"/>
            </a:solidFill>
            <a:ln w="12700">
              <a:solidFill>
                <a:srgbClr val="F3DEDE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15955" y="1858"/>
              <a:ext cx="1786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b="1" dirty="0">
                  <a:solidFill>
                    <a:srgbClr val="B44E4E"/>
                  </a:solidFill>
                  <a:latin typeface="Times New Roman" panose="02020603050405020304" charset="0"/>
                  <a:ea typeface="宋体-简" panose="02010800040101010101" charset="-122"/>
                  <a:cs typeface="Arial Unicode MS" panose="020B0604020202020204" pitchFamily="34" charset="-120"/>
                </a:rPr>
                <a:t>继续走出</a:t>
              </a:r>
              <a:endParaRPr lang="en-US" sz="950" b="1" dirty="0">
                <a:solidFill>
                  <a:srgbClr val="B44E4E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endParaRPr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近一个月完成的实验与研究产出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88696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统计范围：2026-06-10 至 2026-07-05；</a:t>
            </a:r>
            <a:endParaRPr lang="en-US" sz="115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8096" y="1353312"/>
            <a:ext cx="10652760" cy="0"/>
          </a:xfrm>
          <a:prstGeom prst="line">
            <a:avLst/>
          </a:prstGeom>
          <a:noFill/>
          <a:ln w="19050">
            <a:solidFill>
              <a:srgbClr val="1721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371600"/>
            <a:ext cx="10652760" cy="429768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72184"/>
            <a:ext cx="10881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类别</a:t>
            </a:r>
            <a:endParaRPr lang="en-US" sz="114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75688" y="1472184"/>
            <a:ext cx="273405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统计项</a:t>
            </a:r>
            <a:endParaRPr lang="en-US" sz="114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56048" y="1472184"/>
            <a:ext cx="1728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数量</a:t>
            </a:r>
            <a:endParaRPr lang="en-US" sz="114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30568" y="1472184"/>
            <a:ext cx="45171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口径说明</a:t>
            </a:r>
            <a:endParaRPr lang="en-US" sz="114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8096" y="1810512"/>
            <a:ext cx="10652760" cy="0"/>
          </a:xfrm>
          <a:prstGeom prst="line">
            <a:avLst/>
          </a:prstGeom>
          <a:noFill/>
          <a:ln w="11430">
            <a:solidFill>
              <a:srgbClr val="1721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11096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实验评测</a:t>
            </a:r>
            <a:endParaRPr lang="en-US" sz="11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75688" y="1911096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完成评测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56048" y="1911096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48 轮</a:t>
            </a:r>
            <a:endParaRPr lang="en-US" sz="11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30568" y="1911096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均产出汇总指标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" y="2249424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50008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20" dirty="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075688" y="235000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完整 100 集评测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56048" y="2350008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17 轮</a:t>
            </a:r>
            <a:endParaRPr lang="en-US" sz="11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830568" y="2350008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100 个任务的完整对照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68096" y="2688336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788920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20" dirty="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075688" y="2788920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累计评测任务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56048" y="278892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1972 个</a:t>
            </a:r>
            <a:endParaRPr lang="en-US" sz="11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30568" y="2788920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按各轮配置规模合计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8096" y="3127248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3227832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20" dirty="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75688" y="3227832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运行日志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56048" y="3227832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79 份</a:t>
            </a:r>
            <a:endParaRPr lang="en-US" sz="11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830568" y="3227832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记录环境、配置与运行状态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8096" y="3566160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8096" y="3566160"/>
            <a:ext cx="10652760" cy="0"/>
          </a:xfrm>
          <a:prstGeom prst="line">
            <a:avLst/>
          </a:prstGeom>
          <a:noFill/>
          <a:ln w="10160">
            <a:solidFill>
              <a:srgbClr val="AEB7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3666744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数据沉淀</a:t>
            </a:r>
            <a:endParaRPr lang="en-US" sz="11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075688" y="3666744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逐 episode trace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56048" y="3666744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2059 份</a:t>
            </a:r>
            <a:endParaRPr lang="en-US" sz="11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30568" y="3666744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逐任务结构化追踪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68096" y="4005072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105656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20" dirty="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2075688" y="4105656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结构化</a:t>
            </a: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决策 trace</a:t>
            </a:r>
            <a:endParaRPr lang="en-US" sz="1120" dirty="0"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956048" y="4105656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约 64.5 万行</a:t>
            </a:r>
            <a:endParaRPr lang="en-US" sz="11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30568" y="4105656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感知、选择与停止事件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8096" y="4443984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" y="4544568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20" dirty="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075688" y="454456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导航事件日志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4956048" y="4544568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约 59.6 万行</a:t>
            </a:r>
            <a:endParaRPr lang="en-US" sz="11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30568" y="4544568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动作、位置与状态变化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68096" y="4882896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" y="4983480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20" dirty="0">
              <a:latin typeface="Heiti SC Light" panose="02000000000000000000" charset="-122"/>
              <a:ea typeface="Heiti SC Light" panose="02000000000000000000" charset="-122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075688" y="4983480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日志总体积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56048" y="4983480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1.8 GB</a:t>
            </a:r>
            <a:endParaRPr lang="en-US" sz="11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6830568" y="4983480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当前 logs 目录统计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68096" y="5321808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" y="5321808"/>
            <a:ext cx="10652760" cy="0"/>
          </a:xfrm>
          <a:prstGeom prst="line">
            <a:avLst/>
          </a:prstGeom>
          <a:noFill/>
          <a:ln w="10160">
            <a:solidFill>
              <a:srgbClr val="AEB7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1248" y="5422392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A66B1F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工程产出</a:t>
            </a:r>
            <a:endParaRPr lang="en-US" sz="1120" b="1" dirty="0">
              <a:solidFill>
                <a:srgbClr val="A66B1F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075688" y="5422392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导航扩展模块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956048" y="5422392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A66B1F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24 个</a:t>
            </a:r>
            <a:endParaRPr lang="en-US" sz="1120" b="1" dirty="0">
              <a:solidFill>
                <a:srgbClr val="A66B1F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30568" y="5422392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约 4990 行扩展代码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68096" y="5760720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" y="5760720"/>
            <a:ext cx="10652760" cy="0"/>
          </a:xfrm>
          <a:prstGeom prst="line">
            <a:avLst/>
          </a:prstGeom>
          <a:noFill/>
          <a:ln w="10160">
            <a:solidFill>
              <a:srgbClr val="AEB7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" y="5861304"/>
            <a:ext cx="1088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B44E4E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研究产出</a:t>
            </a:r>
            <a:endParaRPr lang="en-US" sz="1120" b="1" dirty="0">
              <a:solidFill>
                <a:srgbClr val="B44E4E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075688" y="5861304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项目文档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956048" y="5861304"/>
            <a:ext cx="172821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B44E4E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55 篇</a:t>
            </a:r>
            <a:endParaRPr lang="en-US" sz="1120" b="1" dirty="0">
              <a:solidFill>
                <a:srgbClr val="B44E4E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830568" y="5861304"/>
            <a:ext cx="45171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Heiti SC Light" panose="02000000000000000000" charset="-122"/>
              </a:rPr>
              <a:t>含 9 篇记录、3 份报告、10 张分析图</a:t>
            </a:r>
            <a:endParaRPr lang="en-US" sz="11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Heiti SC Light" panose="02000000000000000000" charset="-122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768096" y="6199632"/>
            <a:ext cx="10652760" cy="0"/>
          </a:xfrm>
          <a:prstGeom prst="line">
            <a:avLst/>
          </a:prstGeom>
          <a:noFill/>
          <a:ln w="19050">
            <a:solidFill>
              <a:srgbClr val="17212B"/>
            </a:solidFill>
            <a:prstDash val="solid"/>
          </a:ln>
        </p:spPr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Heiti SC Light" panose="02000000000000000000" charset="-122"/>
                <a:ea typeface="Heiti SC Light" panose="02000000000000000000" charset="-122"/>
              </a:rPr>
            </a:fld>
            <a:endParaRPr lang="en-US" b="0">
              <a:latin typeface="Heiti SC Light" panose="02000000000000000000" charset="-122"/>
              <a:ea typeface="Heiti SC Light" panose="020000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现在的技术路线：给“该不该停”增加外部证据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88696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不只依赖模型自报，而是让停止判断可观察、可复盘、可消融</a:t>
            </a:r>
            <a:endParaRPr lang="en-US" sz="115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9808" y="14081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已经接入实验系统</a:t>
            </a:r>
            <a:endParaRPr lang="en-US" sz="110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46520" y="14081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正在做单开关验证</a:t>
            </a:r>
            <a:endParaRPr lang="en-US" sz="110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080760" y="1417320"/>
            <a:ext cx="0" cy="3840480"/>
          </a:xfrm>
          <a:prstGeom prst="line">
            <a:avLst/>
          </a:prstGeom>
          <a:noFill/>
          <a:ln w="15240">
            <a:solidFill>
              <a:srgbClr val="D7DC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883664"/>
            <a:ext cx="329184" cy="329184"/>
          </a:xfrm>
          <a:prstGeom prst="ellipse">
            <a:avLst/>
          </a:prstGeom>
          <a:solidFill>
            <a:srgbClr val="DCEBF3"/>
          </a:solidFill>
          <a:ln w="15240">
            <a:solidFill>
              <a:srgbClr val="2A6F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2938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6F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71016" y="184708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受控实验框架</a:t>
            </a:r>
            <a:endParaRPr lang="en-US" sz="155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71016" y="2203704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记录每一步看到了什么、选了哪里、为什么停或不停</a:t>
            </a:r>
            <a:endParaRPr lang="en-US" sz="118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8096" y="2935224"/>
            <a:ext cx="329184" cy="329184"/>
          </a:xfrm>
          <a:prstGeom prst="ellipse">
            <a:avLst/>
          </a:prstGeom>
          <a:solidFill>
            <a:srgbClr val="DCEBF3"/>
          </a:solidFill>
          <a:ln w="15240">
            <a:solidFill>
              <a:srgbClr val="2A6F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98094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6F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71016" y="289864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视觉停止验证</a:t>
            </a:r>
            <a:endParaRPr lang="en-US" sz="155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71016" y="3255264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模型提出停止后，再检查目标证据是否充分</a:t>
            </a:r>
            <a:endParaRPr lang="en-US" sz="118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" y="3986784"/>
            <a:ext cx="329184" cy="329184"/>
          </a:xfrm>
          <a:prstGeom prst="ellipse">
            <a:avLst/>
          </a:prstGeom>
          <a:solidFill>
            <a:srgbClr val="DCEBF3"/>
          </a:solidFill>
          <a:ln w="15240">
            <a:solidFill>
              <a:srgbClr val="2A6F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03250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6F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71016" y="395020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主动停止与恢复</a:t>
            </a:r>
            <a:endParaRPr lang="en-US" sz="155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1016" y="4306824"/>
            <a:ext cx="43891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接近目标时主动触发判断，拒停后继续探索或换路</a:t>
            </a:r>
            <a:endParaRPr lang="en-US" sz="118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73952" y="1883664"/>
            <a:ext cx="329184" cy="329184"/>
          </a:xfrm>
          <a:prstGeom prst="ellipse">
            <a:avLst/>
          </a:prstGeom>
          <a:solidFill>
            <a:srgbClr val="DCEBE5"/>
          </a:solidFill>
          <a:ln w="15240">
            <a:solidFill>
              <a:srgbClr val="2E7D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192938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76872" y="184708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深度停止判断</a:t>
            </a:r>
            <a:endParaRPr lang="en-US" sz="155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976872" y="2203704"/>
            <a:ext cx="4297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目标明显过远时，不允许轻易停止</a:t>
            </a:r>
            <a:endParaRPr lang="en-US" sz="118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73952" y="2935224"/>
            <a:ext cx="329184" cy="329184"/>
          </a:xfrm>
          <a:prstGeom prst="ellipse">
            <a:avLst/>
          </a:prstGeom>
          <a:solidFill>
            <a:srgbClr val="DCEBE5"/>
          </a:solidFill>
          <a:ln w="15240">
            <a:solidFill>
              <a:srgbClr val="2E7D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98094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76872" y="289864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路线状态一致性</a:t>
            </a:r>
            <a:endParaRPr lang="en-US" sz="155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76872" y="3255264"/>
            <a:ext cx="4297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按指令顺序维护“当前走到哪一步”</a:t>
            </a:r>
            <a:endParaRPr lang="en-US" sz="118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73952" y="3986784"/>
            <a:ext cx="329184" cy="329184"/>
          </a:xfrm>
          <a:prstGeom prst="ellipse">
            <a:avLst/>
          </a:prstGeom>
          <a:solidFill>
            <a:srgbClr val="DCEBE5"/>
          </a:solidFill>
          <a:ln w="15240">
            <a:solidFill>
              <a:srgbClr val="2E7D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4032504"/>
            <a:ext cx="3291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E7D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76872" y="395020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回溯与负目标记忆</a:t>
            </a:r>
            <a:endParaRPr lang="en-US" sz="155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76872" y="4306824"/>
            <a:ext cx="4297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走错后退回，错误位置不再反复尝试</a:t>
            </a:r>
            <a:endParaRPr lang="en-US" sz="118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50976" y="5349240"/>
            <a:ext cx="10131552" cy="566928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504688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看见</a:t>
            </a:r>
            <a:endParaRPr lang="en-US" sz="125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828800" y="55138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视觉与深度证据</a:t>
            </a:r>
            <a:endParaRPr lang="en-US" sz="102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209544" y="5623560"/>
            <a:ext cx="329184" cy="0"/>
          </a:xfrm>
          <a:prstGeom prst="line">
            <a:avLst/>
          </a:prstGeom>
          <a:noFill/>
          <a:ln w="22860">
            <a:solidFill>
              <a:srgbClr val="D7DCE1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666744" y="5504688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判断</a:t>
            </a:r>
            <a:endParaRPr lang="en-US" sz="125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25112" y="55138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路线状态与停止核验</a:t>
            </a:r>
            <a:endParaRPr lang="en-US" sz="102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705856" y="5623560"/>
            <a:ext cx="329184" cy="0"/>
          </a:xfrm>
          <a:prstGeom prst="line">
            <a:avLst/>
          </a:prstGeom>
          <a:noFill/>
          <a:ln w="22860">
            <a:solidFill>
              <a:srgbClr val="D7DCE1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6163056" y="5504688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停止</a:t>
            </a:r>
            <a:endParaRPr lang="en-US" sz="125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21424" y="55138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主动把握成功窗口</a:t>
            </a:r>
            <a:endParaRPr lang="en-US" sz="102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02168" y="5623560"/>
            <a:ext cx="329184" cy="0"/>
          </a:xfrm>
          <a:prstGeom prst="line">
            <a:avLst/>
          </a:prstGeom>
          <a:noFill/>
          <a:ln w="22860">
            <a:solidFill>
              <a:srgbClr val="D7DCE1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8659368" y="5504688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恢复</a:t>
            </a:r>
            <a:endParaRPr lang="en-US" sz="125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9317736" y="551383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回溯与错误记忆</a:t>
            </a:r>
            <a:endParaRPr lang="en-US" sz="102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18"/>
          <p:cNvSpPr/>
          <p:nvPr/>
        </p:nvSpPr>
        <p:spPr>
          <a:xfrm>
            <a:off x="768096" y="4735830"/>
            <a:ext cx="10652760" cy="694944"/>
          </a:xfrm>
          <a:prstGeom prst="rect">
            <a:avLst/>
          </a:prstGeom>
          <a:solidFill>
            <a:srgbClr val="E8F2ED"/>
          </a:solidFill>
          <a:ln w="12700">
            <a:solidFill>
              <a:srgbClr val="E8F2ED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阶段结果：主要提升来自“到达后真正停下”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88696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SR：最终成功率；OSR：过程中曾进入目标范围的比例；</a:t>
            </a:r>
            <a:endParaRPr lang="en-US" sz="115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8096" y="1627632"/>
            <a:ext cx="10652760" cy="0"/>
          </a:xfrm>
          <a:prstGeom prst="line">
            <a:avLst/>
          </a:prstGeom>
          <a:noFill/>
          <a:ln w="19050">
            <a:solidFill>
              <a:srgbClr val="1721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45920"/>
            <a:ext cx="10652760" cy="502920"/>
          </a:xfrm>
          <a:prstGeom prst="rect">
            <a:avLst/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46504"/>
            <a:ext cx="20025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实验配置</a:t>
            </a:r>
            <a:endParaRPr lang="en-US" sz="118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990088" y="1746504"/>
            <a:ext cx="9966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SR ↑</a:t>
            </a:r>
            <a:endParaRPr lang="en-US" sz="118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33088" y="1746504"/>
            <a:ext cx="9966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OSR ↑</a:t>
            </a:r>
            <a:endParaRPr lang="en-US" sz="118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76088" y="1746504"/>
            <a:ext cx="145389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OSR→SR ↑</a:t>
            </a:r>
            <a:endParaRPr lang="en-US" sz="118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76288" y="1746504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未转化数 ↓</a:t>
            </a:r>
            <a:endParaRPr lang="en-US" sz="118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430768" y="1746504"/>
            <a:ext cx="29169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结果说明</a:t>
            </a:r>
            <a:endParaRPr lang="en-US" sz="118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096" y="2157984"/>
            <a:ext cx="10652760" cy="0"/>
          </a:xfrm>
          <a:prstGeom prst="line">
            <a:avLst/>
          </a:prstGeom>
          <a:noFill/>
          <a:ln w="11430">
            <a:solidFill>
              <a:srgbClr val="1721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258568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原始 4B 基线</a:t>
            </a:r>
            <a:endParaRPr lang="en-US" sz="1220" b="1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90088" y="2258568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16%</a:t>
            </a:r>
            <a:endParaRPr lang="en-US" sz="12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33088" y="2258568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25%</a:t>
            </a:r>
            <a:endParaRPr lang="en-US" sz="12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76088" y="2258568"/>
            <a:ext cx="1453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64.0%</a:t>
            </a:r>
            <a:endParaRPr lang="en-US" sz="12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76288" y="225856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9</a:t>
            </a:r>
            <a:endParaRPr lang="en-US" sz="12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30768" y="2258568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到达后仍有较多机会丢失</a:t>
            </a:r>
            <a:endParaRPr lang="en-US" sz="12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8096" y="2871216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2880360"/>
            <a:ext cx="10652760" cy="694944"/>
          </a:xfrm>
          <a:prstGeom prst="rect">
            <a:avLst/>
          </a:prstGeom>
          <a:solidFill>
            <a:srgbClr val="E8F2ED"/>
          </a:solidFill>
          <a:ln w="12700">
            <a:solidFill>
              <a:srgbClr val="E8F2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2971800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4B 阶段最好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90088" y="2971800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24%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33088" y="2971800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26%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76088" y="2971800"/>
            <a:ext cx="1453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92.3%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76288" y="2971800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430768" y="2971800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  <a:sym typeface="+mn-ea"/>
              </a:rPr>
              <a:t>加入模块后提升明显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8096" y="3584448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8096" y="3584448"/>
            <a:ext cx="10652760" cy="0"/>
          </a:xfrm>
          <a:prstGeom prst="line">
            <a:avLst/>
          </a:prstGeom>
          <a:noFill/>
          <a:ln w="10160">
            <a:solidFill>
              <a:srgbClr val="AEB7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685032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变化（阶段最好−基线）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2990088" y="3685032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+8 pp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33088" y="3685032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+1 pp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76088" y="3685032"/>
            <a:ext cx="1453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+28.3 pp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76288" y="3685032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B44E4E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−7</a:t>
            </a:r>
            <a:endParaRPr lang="en-US" sz="1220" b="1" dirty="0">
              <a:solidFill>
                <a:srgbClr val="B44E4E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30768" y="3685032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主要收益来自停止转化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41121" y="6035040"/>
            <a:ext cx="10652760" cy="0"/>
          </a:xfrm>
          <a:prstGeom prst="line">
            <a:avLst/>
          </a:prstGeom>
          <a:noFill/>
          <a:ln w="19050">
            <a:solidFill>
              <a:srgbClr val="17212B"/>
            </a:solidFill>
            <a:prstDash val="solid"/>
          </a:ln>
        </p:spPr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37" name="Text 19"/>
          <p:cNvSpPr/>
          <p:nvPr/>
        </p:nvSpPr>
        <p:spPr>
          <a:xfrm>
            <a:off x="840613" y="4233545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20" b="1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  <a:sym typeface="+mn-ea"/>
              </a:rPr>
              <a:t>原始 9B 基线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1" name="Text 20"/>
          <p:cNvSpPr/>
          <p:nvPr/>
        </p:nvSpPr>
        <p:spPr>
          <a:xfrm>
            <a:off x="2989453" y="4233545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16%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2" name="Text 21"/>
          <p:cNvSpPr/>
          <p:nvPr/>
        </p:nvSpPr>
        <p:spPr>
          <a:xfrm>
            <a:off x="4132453" y="4233545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21%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5275453" y="4233545"/>
            <a:ext cx="1453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altLang="zh-CN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76.2</a:t>
            </a: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4" name="Text 23"/>
          <p:cNvSpPr/>
          <p:nvPr/>
        </p:nvSpPr>
        <p:spPr>
          <a:xfrm>
            <a:off x="6875653" y="4233545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5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5" name="Text 24"/>
          <p:cNvSpPr/>
          <p:nvPr/>
        </p:nvSpPr>
        <p:spPr>
          <a:xfrm>
            <a:off x="8430133" y="4233545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  <a:sym typeface="+mn-ea"/>
              </a:rPr>
              <a:t>到达后仍有较多机会丢失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6" name="Text 19"/>
          <p:cNvSpPr/>
          <p:nvPr/>
        </p:nvSpPr>
        <p:spPr>
          <a:xfrm>
            <a:off x="839978" y="4808855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9B 阶段最好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7" name="Text 20"/>
          <p:cNvSpPr/>
          <p:nvPr/>
        </p:nvSpPr>
        <p:spPr>
          <a:xfrm>
            <a:off x="2988818" y="4808855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24%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8" name="Text 21"/>
          <p:cNvSpPr/>
          <p:nvPr/>
        </p:nvSpPr>
        <p:spPr>
          <a:xfrm>
            <a:off x="4131818" y="4808855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28%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9" name="Text 22"/>
          <p:cNvSpPr/>
          <p:nvPr/>
        </p:nvSpPr>
        <p:spPr>
          <a:xfrm>
            <a:off x="5274818" y="4808855"/>
            <a:ext cx="1453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altLang="zh-CN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85.7</a:t>
            </a: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%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0" name="Text 23"/>
          <p:cNvSpPr/>
          <p:nvPr/>
        </p:nvSpPr>
        <p:spPr>
          <a:xfrm>
            <a:off x="6875018" y="4808855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4</a:t>
            </a:r>
            <a:endParaRPr 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1" name="Text 24"/>
          <p:cNvSpPr/>
          <p:nvPr/>
        </p:nvSpPr>
        <p:spPr>
          <a:xfrm>
            <a:off x="8429498" y="4808855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zh-CN" alt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加入模块后提升</a:t>
            </a:r>
            <a:r>
              <a:rPr lang="zh-CN" altLang="en-US" sz="122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明显</a:t>
            </a:r>
            <a:endParaRPr lang="zh-CN" altLang="en-US" sz="122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2" name="Shape 25"/>
          <p:cNvSpPr/>
          <p:nvPr/>
        </p:nvSpPr>
        <p:spPr>
          <a:xfrm>
            <a:off x="840486" y="4735703"/>
            <a:ext cx="10652760" cy="0"/>
          </a:xfrm>
          <a:prstGeom prst="line">
            <a:avLst/>
          </a:prstGeom>
          <a:noFill/>
          <a:ln w="5715">
            <a:solidFill>
              <a:srgbClr val="D7DCE1"/>
            </a:solidFill>
            <a:prstDash val="solid"/>
          </a:ln>
        </p:spPr>
      </p:sp>
      <p:sp>
        <p:nvSpPr>
          <p:cNvPr id="55" name="Text 27"/>
          <p:cNvSpPr/>
          <p:nvPr/>
        </p:nvSpPr>
        <p:spPr>
          <a:xfrm>
            <a:off x="841248" y="5486527"/>
            <a:ext cx="20025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变化（阶段最好−基线）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6" name="Text 28"/>
          <p:cNvSpPr/>
          <p:nvPr/>
        </p:nvSpPr>
        <p:spPr>
          <a:xfrm>
            <a:off x="2990088" y="5486527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+8 pp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7" name="Text 29"/>
          <p:cNvSpPr/>
          <p:nvPr/>
        </p:nvSpPr>
        <p:spPr>
          <a:xfrm>
            <a:off x="4133088" y="5486527"/>
            <a:ext cx="9966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+7  pp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8" name="Text 30"/>
          <p:cNvSpPr/>
          <p:nvPr/>
        </p:nvSpPr>
        <p:spPr>
          <a:xfrm>
            <a:off x="5276088" y="5486527"/>
            <a:ext cx="145389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+9.5 pp</a:t>
            </a:r>
            <a:endParaRPr 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6876288" y="5486527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220" b="1" dirty="0">
                <a:solidFill>
                  <a:srgbClr val="B44E4E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−1</a:t>
            </a:r>
            <a:endParaRPr lang="en-US" sz="1220" b="1" dirty="0">
              <a:solidFill>
                <a:srgbClr val="B44E4E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60" name="Text 32"/>
          <p:cNvSpPr/>
          <p:nvPr/>
        </p:nvSpPr>
        <p:spPr>
          <a:xfrm>
            <a:off x="8430768" y="5486527"/>
            <a:ext cx="291693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l">
              <a:buNone/>
            </a:pPr>
            <a:r>
              <a:rPr lang="en-US" sz="122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  <a:sym typeface="+mn-ea"/>
              </a:rPr>
              <a:t>主要收益来自停止转化</a:t>
            </a:r>
            <a:endParaRPr lang="zh-CN" altLang="en-US" sz="122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813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现在在做什么，接下来准备做什么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886968"/>
            <a:ext cx="10698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7984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保持单开关、可归因的实验节奏</a:t>
            </a:r>
            <a:endParaRPr lang="en-US" sz="1150" dirty="0">
              <a:solidFill>
                <a:srgbClr val="6E7984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9808" y="1481328"/>
            <a:ext cx="2944368" cy="566928"/>
          </a:xfrm>
          <a:prstGeom prst="rect">
            <a:avLst/>
          </a:prstGeom>
          <a:solidFill>
            <a:srgbClr val="DCEBF3"/>
          </a:solidFill>
          <a:ln w="12700">
            <a:solidFill>
              <a:srgbClr val="DCEB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65506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6F97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已经完成</a:t>
            </a:r>
            <a:endParaRPr lang="en-US" sz="1500" b="1" dirty="0">
              <a:solidFill>
                <a:srgbClr val="2A6F97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27248" y="1609344"/>
            <a:ext cx="3108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7248" y="161848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6F97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6112" y="2532888"/>
            <a:ext cx="73152" cy="7315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23160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跑通完整实验链路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96112" y="3227832"/>
            <a:ext cx="73152" cy="7315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11810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建立可复盘的受控框架</a:t>
            </a:r>
            <a:endParaRPr 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96112" y="3922776"/>
            <a:ext cx="73152" cy="7315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81304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完成多轮 4B / 9B 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两个模型</a:t>
            </a: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对照</a:t>
            </a:r>
            <a:endParaRPr 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96112" y="4617720"/>
            <a:ext cx="73152" cy="73152"/>
          </a:xfrm>
          <a:prstGeom prst="ellipse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507992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定位“到过但没停住”问题，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找到了真正的失败原因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23944" y="1481328"/>
            <a:ext cx="2944368" cy="566928"/>
          </a:xfrm>
          <a:prstGeom prst="rect">
            <a:avLst/>
          </a:prstGeom>
          <a:solidFill>
            <a:srgbClr val="DCEBE5"/>
          </a:solidFill>
          <a:ln w="12700">
            <a:solidFill>
              <a:srgbClr val="DCE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06824" y="165506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62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正在做</a:t>
            </a:r>
            <a:endParaRPr lang="en-US" sz="1500" b="1" dirty="0">
              <a:solidFill>
                <a:srgbClr val="2E7D62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01384" y="1609344"/>
            <a:ext cx="3108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161848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62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70248" y="2532888"/>
            <a:ext cx="73152" cy="73152"/>
          </a:xfrm>
          <a:prstGeom prst="ellipse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1416" y="2423160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深度停止判断：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用深度相机确定眼前这物体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是否真的够近吗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70248" y="3227832"/>
            <a:ext cx="73152" cy="73152"/>
          </a:xfrm>
          <a:prstGeom prst="ellipse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311810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路线状态一致性：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停之前回头确定指令说的路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是否都走过了吗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0248" y="3922776"/>
            <a:ext cx="73152" cy="73152"/>
          </a:xfrm>
          <a:prstGeom prst="ellipse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71416" y="381304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可观测回溯：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发现自己原地</a:t>
            </a:r>
            <a:r>
              <a:rPr lang="en-US" altLang="zh-CN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loop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时，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回溯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270248" y="4617720"/>
            <a:ext cx="73152" cy="73152"/>
          </a:xfrm>
          <a:prstGeom prst="ellipse">
            <a:avLst/>
          </a:prstGeom>
          <a:solidFill>
            <a:srgbClr val="2E7D62"/>
          </a:solidFill>
          <a:ln w="12700">
            <a:solidFill>
              <a:srgbClr val="2E7D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71416" y="4507992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负目标位置记忆：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在哪儿停错过就记住，不在同一个地方犯两次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1481328"/>
            <a:ext cx="2944368" cy="566928"/>
          </a:xfrm>
          <a:prstGeom prst="rect">
            <a:avLst/>
          </a:prstGeom>
          <a:solidFill>
            <a:srgbClr val="F3E8D5"/>
          </a:solidFill>
          <a:ln w="12700">
            <a:solidFill>
              <a:srgbClr val="F3E8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1655064"/>
            <a:ext cx="155448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6B1F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准备做</a:t>
            </a:r>
            <a:endParaRPr lang="en-US" sz="1500" b="1" dirty="0">
              <a:solidFill>
                <a:srgbClr val="A66B1F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875520" y="1609344"/>
            <a:ext cx="31089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0" y="161848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66B1F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44384" y="2532888"/>
            <a:ext cx="73152" cy="73152"/>
          </a:xfrm>
          <a:prstGeom prst="ellipse">
            <a:avLst/>
          </a:prstGeom>
          <a:solidFill>
            <a:srgbClr val="A66B1F"/>
          </a:solidFill>
          <a:ln w="12700">
            <a:solidFill>
              <a:srgbClr val="A66B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45552" y="2423160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逐项做对照实验</a:t>
            </a:r>
            <a:r>
              <a:rPr lang="en-US" altLang="zh-CN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，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每个机制单独开关跑一遍评估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有效性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644384" y="3227832"/>
            <a:ext cx="73152" cy="73152"/>
          </a:xfrm>
          <a:prstGeom prst="ellipse">
            <a:avLst/>
          </a:prstGeom>
          <a:solidFill>
            <a:srgbClr val="A66B1F"/>
          </a:solidFill>
          <a:ln w="12700">
            <a:solidFill>
              <a:srgbClr val="A66B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5552" y="3118104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把有效的机制合并跑全量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实验</a:t>
            </a:r>
            <a:endParaRPr lang="zh-CN" alt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644384" y="3922776"/>
            <a:ext cx="73152" cy="73152"/>
          </a:xfrm>
          <a:prstGeom prst="ellipse">
            <a:avLst/>
          </a:prstGeom>
          <a:solidFill>
            <a:srgbClr val="A66B1F"/>
          </a:solidFill>
          <a:ln w="12700">
            <a:solidFill>
              <a:srgbClr val="A66B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45552" y="3813048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筛选更合适的模型底座</a:t>
            </a:r>
            <a:endParaRPr 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644384" y="4617720"/>
            <a:ext cx="73152" cy="73152"/>
          </a:xfrm>
          <a:prstGeom prst="ellipse">
            <a:avLst/>
          </a:prstGeom>
          <a:solidFill>
            <a:srgbClr val="A66B1F"/>
          </a:solidFill>
          <a:ln w="12700">
            <a:solidFill>
              <a:srgbClr val="A66B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45552" y="4507992"/>
            <a:ext cx="245059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后续</a:t>
            </a:r>
            <a:r>
              <a:rPr lang="zh-CN" alt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考虑</a:t>
            </a:r>
            <a:r>
              <a:rPr lang="en-US" sz="1320" dirty="0">
                <a:solidFill>
                  <a:srgbClr val="34414D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训练选路与停止模块</a:t>
            </a:r>
            <a:endParaRPr lang="en-US" sz="1320" dirty="0">
              <a:solidFill>
                <a:srgbClr val="34414D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67328" y="1773936"/>
            <a:ext cx="237744" cy="0"/>
          </a:xfrm>
          <a:prstGeom prst="line">
            <a:avLst/>
          </a:prstGeom>
          <a:noFill/>
          <a:ln w="22860">
            <a:solidFill>
              <a:srgbClr val="D7DCE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7141464" y="1773936"/>
            <a:ext cx="237744" cy="0"/>
          </a:xfrm>
          <a:prstGeom prst="line">
            <a:avLst/>
          </a:prstGeom>
          <a:noFill/>
          <a:ln w="22860">
            <a:solidFill>
              <a:srgbClr val="D7DCE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0" y="5650992"/>
            <a:ext cx="12191695" cy="658368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5852160"/>
            <a:ext cx="10378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charset="0"/>
                <a:ea typeface="宋体-简" panose="02010800040101010101" charset="-122"/>
                <a:cs typeface="Arial Unicode MS" panose="020B0604020202020204" pitchFamily="34" charset="-120"/>
              </a:rPr>
              <a:t>不是只让智能体“走到过目标”，而是让它在到达时判断出来，并且可靠地停下。</a:t>
            </a:r>
            <a:endParaRPr lang="en-US" sz="1650" b="1" dirty="0">
              <a:solidFill>
                <a:srgbClr val="FFFFFF"/>
              </a:solidFill>
              <a:latin typeface="Times New Roman" panose="02020603050405020304" charset="0"/>
              <a:ea typeface="宋体-简" panose="02010800040101010101" charset="-122"/>
              <a:cs typeface="Arial Unicode MS" panose="020B0604020202020204" pitchFamily="34" charset="-120"/>
            </a:endParaRPr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473952"/>
            <a:ext cx="219456" cy="182880"/>
          </a:xfrm>
          <a:prstGeom prst="rect">
            <a:avLst/>
          </a:prstGeom>
        </p:spPr>
        <p:txBody>
          <a:bodyPr/>
          <a:lstStyle>
            <a:lvl1pPr>
              <a:defRPr sz="850">
                <a:solidFill>
                  <a:srgbClr val="7781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WPS 演示</Application>
  <PresentationFormat>On-screen Show (16:9)</PresentationFormat>
  <Paragraphs>298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29" baseType="lpstr">
      <vt:lpstr>Arial</vt:lpstr>
      <vt:lpstr>宋体</vt:lpstr>
      <vt:lpstr>Wingdings</vt:lpstr>
      <vt:lpstr>Aptos</vt:lpstr>
      <vt:lpstr>SF Pro Display Regular</vt:lpstr>
      <vt:lpstr>Arial Unicode MS</vt:lpstr>
      <vt:lpstr>Arial Unicode MS</vt:lpstr>
      <vt:lpstr>Aptos</vt:lpstr>
      <vt:lpstr>Aptos</vt:lpstr>
      <vt:lpstr>Aptos</vt:lpstr>
      <vt:lpstr>Aptos Display</vt:lpstr>
      <vt:lpstr>Aptos Display</vt:lpstr>
      <vt:lpstr>Aptos Display</vt:lpstr>
      <vt:lpstr>微软雅黑</vt:lpstr>
      <vt:lpstr>汉仪旗黑</vt:lpstr>
      <vt:lpstr>宋体</vt:lpstr>
      <vt:lpstr>Calibri</vt:lpstr>
      <vt:lpstr>Helvetica Neue</vt:lpstr>
      <vt:lpstr>汉仪书宋二KW</vt:lpstr>
      <vt:lpstr>Heiti SC Light</vt:lpstr>
      <vt:lpstr>Times New Roman</vt:lpstr>
      <vt:lpstr>宋体-简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Controlled Navigation Harness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让导航智能体到达后停得住</dc:title>
  <dc:creator>moca</dc:creator>
  <dc:subject>VLN-CE experiment progress report</dc:subject>
  <cp:lastModifiedBy>沉也</cp:lastModifiedBy>
  <cp:revision>23</cp:revision>
  <dcterms:created xsi:type="dcterms:W3CDTF">2026-07-13T12:11:22Z</dcterms:created>
  <dcterms:modified xsi:type="dcterms:W3CDTF">2026-07-13T12:11:22Z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94E33AAC89550B0095C1546AC8D8F663_42</vt:lpwstr>
  </property>
  <property fmtid="{D5CDD505-2E9C-101B-9397-08002B2CF9AE}" pid="3" name="KSOProductBuildVer">
    <vt:lpwstr>2052-12.1.22218.22218</vt:lpwstr>
  </property>
</Properties>
</file>